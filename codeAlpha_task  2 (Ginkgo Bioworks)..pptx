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4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3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59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4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81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5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9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77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3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5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11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811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17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700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457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135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73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A022C8-B4ED-4C85-B07B-BD77D66C806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A6AD1E-DE8A-4434-8272-24261615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8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62D-292E-40D1-34AC-8E0B1047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CASE STUDY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A70FC-4D4A-5EDE-D479-032193572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3392"/>
            <a:ext cx="9601196" cy="33524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800" b="1" dirty="0"/>
              <a:t>Ginkgo Bioworks: Engineering Biology for a Better Future</a:t>
            </a:r>
          </a:p>
          <a:p>
            <a:pPr marL="0" indent="0">
              <a:buNone/>
            </a:pPr>
            <a:endParaRPr lang="en-US" sz="4800" b="1" dirty="0"/>
          </a:p>
          <a:p>
            <a:pPr marL="0" indent="0">
              <a:buNone/>
            </a:pPr>
            <a:r>
              <a:rPr lang="en-US" sz="3600" b="1" dirty="0"/>
              <a:t>Prepared by:</a:t>
            </a:r>
            <a:br>
              <a:rPr lang="en-US" sz="3600" dirty="0"/>
            </a:br>
            <a:r>
              <a:rPr lang="en-US" sz="3600" dirty="0"/>
              <a:t>Your Name: BYIRINGIRO Valens </a:t>
            </a:r>
          </a:p>
          <a:p>
            <a:pPr marL="0" indent="0">
              <a:buNone/>
            </a:pPr>
            <a:r>
              <a:rPr lang="en-US" sz="3600" dirty="0"/>
              <a:t>CodeAlpha Biotechnology Internship</a:t>
            </a:r>
          </a:p>
          <a:p>
            <a:pPr marL="0" indent="0">
              <a:buNone/>
            </a:pPr>
            <a:r>
              <a:rPr lang="en-US" sz="3600" dirty="0"/>
              <a:t>June 2026</a:t>
            </a:r>
          </a:p>
          <a:p>
            <a:pPr marL="0" indent="0">
              <a:buNone/>
            </a:pPr>
            <a:endParaRPr lang="en-US" sz="4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F778A-009F-E445-0738-024B794FA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22" y="540942"/>
            <a:ext cx="2989386" cy="1863753"/>
          </a:xfrm>
          <a:prstGeom prst="rect">
            <a:avLst/>
          </a:prstGeom>
          <a:effectLst>
            <a:outerShdw blurRad="266700" dist="50800" dir="10200000" algn="ctr" rotWithShape="0">
              <a:srgbClr val="000000">
                <a:alpha val="0"/>
              </a:srgbClr>
            </a:outerShdw>
            <a:reflection blurRad="1117600" endPos="0" dir="5400000" sy="-100000" algn="bl" rotWithShape="0"/>
            <a:softEdge rad="393700"/>
          </a:effectLst>
        </p:spPr>
      </p:pic>
    </p:spTree>
    <p:extLst>
      <p:ext uri="{BB962C8B-B14F-4D97-AF65-F5344CB8AC3E}">
        <p14:creationId xmlns:p14="http://schemas.microsoft.com/office/powerpoint/2010/main" val="130542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3206-1C20-FF00-510A-5EBA8405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COMPANY BACKGROUND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9FD805-03BE-5645-59B7-99308A3A63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5495" y="2285999"/>
            <a:ext cx="9711103" cy="4419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Founded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2008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Headquarters: Boston, Massachusetts, USA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A biotechnology company specializing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synthetic biology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Uses engineered microorganisms to solve challenges in healthcare, agriculture, food, and industrial manufacturing.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800" b="1" dirty="0"/>
              <a:t>                                            Mission</a:t>
            </a:r>
          </a:p>
          <a:p>
            <a:pPr marL="0" indent="0" algn="just">
              <a:buNone/>
            </a:pPr>
            <a:r>
              <a:rPr lang="en-US" sz="2800" i="1" dirty="0"/>
              <a:t>                             To make biology easier to engineer</a:t>
            </a: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821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8B23-5931-A9BF-8468-552171F0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BIOTECHNOLOGY INNOVATION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95C0-0202-7EEE-F47A-BAFF7D35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9958754" cy="34570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cs typeface="Calibri" panose="020F0502020204030204" pitchFamily="34" charset="0"/>
              </a:rPr>
              <a:t>Main Innovation</a:t>
            </a:r>
          </a:p>
          <a:p>
            <a:pPr marL="0" indent="0">
              <a:buNone/>
            </a:pPr>
            <a:r>
              <a:rPr lang="en-US" sz="1800" dirty="0">
                <a:cs typeface="Calibri" panose="020F0502020204030204" pitchFamily="34" charset="0"/>
              </a:rPr>
              <a:t>Ginkgo Bioworks designs microorganisms such as bacteria and yeast using genetic engineering techniques. These engineered microorganisms perform useful biological functions that improve industrial processes.</a:t>
            </a:r>
          </a:p>
          <a:p>
            <a:pPr marL="0" indent="0">
              <a:buNone/>
            </a:pPr>
            <a:r>
              <a:rPr lang="en-US" sz="1800" b="1" dirty="0">
                <a:cs typeface="Calibri" panose="020F0502020204030204" pitchFamily="34" charset="0"/>
              </a:rPr>
              <a:t>Examples</a:t>
            </a:r>
          </a:p>
          <a:p>
            <a:pPr marL="0" indent="0">
              <a:buNone/>
            </a:pPr>
            <a:r>
              <a:rPr lang="en-US" sz="1800" dirty="0">
                <a:cs typeface="Calibri" panose="020F0502020204030204" pitchFamily="34" charset="0"/>
              </a:rPr>
              <a:t>Engineered bacteria </a:t>
            </a:r>
          </a:p>
          <a:p>
            <a:pPr marL="0" indent="0">
              <a:buNone/>
            </a:pPr>
            <a:r>
              <a:rPr lang="en-US" sz="1800" dirty="0">
                <a:cs typeface="Calibri" panose="020F0502020204030204" pitchFamily="34" charset="0"/>
              </a:rPr>
              <a:t>Engineered yeast </a:t>
            </a:r>
          </a:p>
          <a:p>
            <a:pPr marL="0" indent="0">
              <a:buNone/>
            </a:pPr>
            <a:r>
              <a:rPr lang="en-US" sz="1800" dirty="0">
                <a:cs typeface="Calibri" panose="020F0502020204030204" pitchFamily="34" charset="0"/>
              </a:rPr>
              <a:t>Synthetic DNA </a:t>
            </a:r>
          </a:p>
          <a:p>
            <a:pPr marL="0" indent="0">
              <a:buNone/>
            </a:pPr>
            <a:r>
              <a:rPr lang="en-US" sz="1800" dirty="0">
                <a:cs typeface="Calibri" panose="020F0502020204030204" pitchFamily="34" charset="0"/>
              </a:rPr>
              <a:t>Cell programming </a:t>
            </a:r>
          </a:p>
          <a:p>
            <a:pPr marL="0" indent="0">
              <a:buNone/>
            </a:pPr>
            <a:r>
              <a:rPr lang="en-US" sz="1800" dirty="0">
                <a:cs typeface="Calibri" panose="020F0502020204030204" pitchFamily="34" charset="0"/>
              </a:rPr>
              <a:t>These innovations reduce production costs while improving efficiency and sustainability.</a:t>
            </a:r>
          </a:p>
          <a:p>
            <a:pPr marL="0" indent="0">
              <a:buNone/>
            </a:pPr>
            <a:endParaRPr lang="en-US" sz="18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22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4BAC-80CB-A77E-F617-8FD4C3F1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648" y="1070055"/>
            <a:ext cx="9601196" cy="1303867"/>
          </a:xfrm>
        </p:spPr>
        <p:txBody>
          <a:bodyPr/>
          <a:lstStyle/>
          <a:p>
            <a:pPr algn="l"/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7FAFA-1D15-35D8-664B-8633F906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678" y="2734663"/>
            <a:ext cx="2960076" cy="331893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Agriculture                                      </a:t>
            </a:r>
          </a:p>
          <a:p>
            <a:pPr marL="0" indent="0">
              <a:buNone/>
            </a:pPr>
            <a:r>
              <a:rPr lang="en-US" dirty="0"/>
              <a:t>Biofertilizers </a:t>
            </a:r>
          </a:p>
          <a:p>
            <a:pPr marL="0" indent="0">
              <a:buNone/>
            </a:pPr>
            <a:r>
              <a:rPr lang="en-US" dirty="0"/>
              <a:t>Biological pesticides </a:t>
            </a:r>
          </a:p>
          <a:p>
            <a:pPr marL="0" indent="0">
              <a:buNone/>
            </a:pPr>
            <a:r>
              <a:rPr lang="en-US" dirty="0"/>
              <a:t>Improved crop health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0AAF6-C53E-BD75-8C72-AFEE4BA2AC4F}"/>
              </a:ext>
            </a:extLst>
          </p:cNvPr>
          <p:cNvSpPr txBox="1"/>
          <p:nvPr/>
        </p:nvSpPr>
        <p:spPr>
          <a:xfrm>
            <a:off x="4761034" y="2833519"/>
            <a:ext cx="32260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Food Industry</a:t>
            </a:r>
          </a:p>
          <a:p>
            <a:r>
              <a:rPr lang="en-US" sz="2400" dirty="0"/>
              <a:t>Alternative proteins </a:t>
            </a:r>
          </a:p>
          <a:p>
            <a:r>
              <a:rPr lang="en-US" sz="2400" dirty="0"/>
              <a:t>Food ingredients </a:t>
            </a:r>
          </a:p>
          <a:p>
            <a:r>
              <a:rPr lang="en-US" sz="2400" dirty="0"/>
              <a:t>Flavor production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BBB2A-FCD9-BE21-D748-054EED685981}"/>
              </a:ext>
            </a:extLst>
          </p:cNvPr>
          <p:cNvSpPr txBox="1"/>
          <p:nvPr/>
        </p:nvSpPr>
        <p:spPr>
          <a:xfrm>
            <a:off x="8123361" y="2734663"/>
            <a:ext cx="33593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Healthcare</a:t>
            </a:r>
          </a:p>
          <a:p>
            <a:r>
              <a:rPr lang="en-US" sz="2400" dirty="0"/>
              <a:t>Vaccine development </a:t>
            </a:r>
          </a:p>
          <a:p>
            <a:r>
              <a:rPr lang="en-US" sz="2400" dirty="0"/>
              <a:t>Drug discovery </a:t>
            </a:r>
          </a:p>
          <a:p>
            <a:r>
              <a:rPr lang="en-US" sz="2400" dirty="0"/>
              <a:t>Disease diagnostics</a:t>
            </a:r>
          </a:p>
        </p:txBody>
      </p:sp>
    </p:spTree>
    <p:extLst>
      <p:ext uri="{BB962C8B-B14F-4D97-AF65-F5344CB8AC3E}">
        <p14:creationId xmlns:p14="http://schemas.microsoft.com/office/powerpoint/2010/main" val="351085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9D1F-0077-7B67-FB3E-D9678EAFA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CONT’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0D3E6-78D8-20E1-3A63-472B639C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Industrial Biotechnology</a:t>
            </a:r>
          </a:p>
          <a:p>
            <a:pPr marL="0" indent="0">
              <a:buNone/>
            </a:pPr>
            <a:r>
              <a:rPr lang="en-US" dirty="0"/>
              <a:t>Biofuels </a:t>
            </a:r>
          </a:p>
          <a:p>
            <a:pPr marL="0" indent="0">
              <a:buNone/>
            </a:pPr>
            <a:r>
              <a:rPr lang="en-US" dirty="0"/>
              <a:t>Sustainable chemicals </a:t>
            </a:r>
          </a:p>
          <a:p>
            <a:pPr marL="0" indent="0">
              <a:buNone/>
            </a:pPr>
            <a:r>
              <a:rPr lang="en-US" dirty="0"/>
              <a:t>Biomanufacturing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6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085B-A0D9-7378-DA80-9C223902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233530"/>
          </a:xfrm>
        </p:spPr>
        <p:txBody>
          <a:bodyPr/>
          <a:lstStyle/>
          <a:p>
            <a:r>
              <a:rPr lang="en-US" dirty="0"/>
              <a:t>BIOTECHNOLOGY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D3DAF-4593-377F-BCF1-3C003AA28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857" y="2479431"/>
            <a:ext cx="10297257" cy="33964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Technologies Applied</a:t>
            </a:r>
          </a:p>
          <a:p>
            <a:pPr marL="0" indent="0">
              <a:buNone/>
            </a:pPr>
            <a:r>
              <a:rPr lang="en-US" sz="2000" dirty="0"/>
              <a:t>Synthetic Biology </a:t>
            </a:r>
          </a:p>
          <a:p>
            <a:pPr marL="0" indent="0">
              <a:buNone/>
            </a:pPr>
            <a:r>
              <a:rPr lang="en-US" sz="2000" dirty="0"/>
              <a:t>Genetic Engineering </a:t>
            </a:r>
          </a:p>
          <a:p>
            <a:pPr marL="0" indent="0">
              <a:buNone/>
            </a:pPr>
            <a:r>
              <a:rPr lang="en-US" sz="2000" dirty="0"/>
              <a:t>DNA Sequencing </a:t>
            </a:r>
          </a:p>
          <a:p>
            <a:pPr marL="0" indent="0">
              <a:buNone/>
            </a:pPr>
            <a:r>
              <a:rPr lang="en-US" sz="2000" dirty="0"/>
              <a:t>Artificial Intelligence </a:t>
            </a:r>
          </a:p>
          <a:p>
            <a:pPr marL="0" indent="0">
              <a:buNone/>
            </a:pPr>
            <a:r>
              <a:rPr lang="en-US" sz="2000" dirty="0"/>
              <a:t>Automation </a:t>
            </a:r>
          </a:p>
          <a:p>
            <a:pPr marL="0" indent="0">
              <a:buNone/>
            </a:pPr>
            <a:r>
              <a:rPr lang="en-US" sz="2000" dirty="0"/>
              <a:t>Bioinformatics </a:t>
            </a:r>
          </a:p>
          <a:p>
            <a:pPr marL="0" indent="0">
              <a:buNone/>
            </a:pPr>
            <a:r>
              <a:rPr lang="en-US" sz="2000" dirty="0"/>
              <a:t>These technologies enable scientists to design microorganisms with specific functions for different industries.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862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A0C0-5DCC-2E14-FA20-8083EFD6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8850E-A62C-298A-6038-6D5E1F32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246" y="2514600"/>
            <a:ext cx="9806351" cy="33612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Advantages of Ginkgo Bioworks Innovation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Sustainable production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Reduced environmental pollution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Faster biotechnology research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Improved agricultural productivity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Reduced chemical use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Supports food security</a:t>
            </a:r>
          </a:p>
          <a:p>
            <a:pPr marL="0" indent="0">
              <a:buNone/>
            </a:pPr>
            <a:r>
              <a:rPr lang="en-US" dirty="0"/>
              <a:t>Its innovations contribute to environmentally friendly industrial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2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8D30-ED2F-FD23-4EC1-6E33764D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21D2F-08BA-FE16-39EC-2EC8BBA0D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49769"/>
            <a:ext cx="9923584" cy="33260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Challenges Faced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High research and development costs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Strict biotechnology regulations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Ethical concerns about genetic engineering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Public acceptance of biotechnology products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Strong competition from other biotechnology companies </a:t>
            </a:r>
          </a:p>
          <a:p>
            <a:pPr marL="0" indent="0">
              <a:buNone/>
            </a:pPr>
            <a:r>
              <a:rPr lang="en-US" dirty="0"/>
              <a:t>These challenges influence the commercialization and adoption of biotechnology innovations.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6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B6CE-1B95-3213-1EB9-A84B2CD7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2FC6-568E-9C2B-227A-FFE704FC7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Impact on the Biotechnology Industry</a:t>
            </a:r>
          </a:p>
          <a:p>
            <a:pPr marL="0" indent="0">
              <a:buNone/>
            </a:pPr>
            <a:r>
              <a:rPr lang="en-US" dirty="0"/>
              <a:t>Ginkgo Bioworks has become one of the world's leading synthetic biology companies.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Its technologies have: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Increased investment in biotechnology.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Accelerated biological research.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Supported sustainable agriculture.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Improved industrial biotechnology.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Created partnerships with pharmaceutical and agricultural companies. </a:t>
            </a:r>
          </a:p>
        </p:txBody>
      </p:sp>
    </p:spTree>
    <p:extLst>
      <p:ext uri="{BB962C8B-B14F-4D97-AF65-F5344CB8AC3E}">
        <p14:creationId xmlns:p14="http://schemas.microsoft.com/office/powerpoint/2010/main" val="198229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6318-BFA5-438E-AAF3-5AD79888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RELEVANT TO MY COUNTRY (RWANDA)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75FB-066F-543C-C079-095ED15D2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Importance for Rwanda</a:t>
            </a:r>
          </a:p>
          <a:p>
            <a:pPr marL="0" indent="0">
              <a:buNone/>
            </a:pPr>
            <a:r>
              <a:rPr lang="en-US" dirty="0"/>
              <a:t>Although Ginkgo Bioworks is based in the United States, its technologies have potential applications in Rwanda.</a:t>
            </a:r>
          </a:p>
          <a:p>
            <a:pPr marL="0" indent="0">
              <a:buNone/>
            </a:pPr>
            <a:r>
              <a:rPr lang="en-US" dirty="0"/>
              <a:t>Examples include: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Development of sustainable biofertilizers.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Improvement of crop productivity.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Reduction of chemical fertilizer use.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Support for climate-smart agriculture.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Reduction of postharvest losses through biotechnology innovations. </a:t>
            </a:r>
          </a:p>
          <a:p>
            <a:pPr marL="0" indent="0">
              <a:buNone/>
            </a:pPr>
            <a:r>
              <a:rPr lang="en-US" dirty="0"/>
              <a:t>These applications can contribute to food security and sustainable agricultural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47232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5AFE-1656-3EAD-5C92-7F2AB548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12849-E5B1-226B-C4BB-392611571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 marL="0" indent="0">
              <a:buNone/>
            </a:pPr>
            <a:r>
              <a:rPr lang="en-US" dirty="0"/>
              <a:t>Ginkgo Bioworks demonstrates how synthetic biology can transform agriculture, healthcare, and industrial production.</a:t>
            </a:r>
          </a:p>
          <a:p>
            <a:pPr marL="0" indent="0">
              <a:buNone/>
            </a:pPr>
            <a:r>
              <a:rPr lang="en-US" dirty="0"/>
              <a:t>Its innovative biotechnology solutions improve sustainability, productivity, and environmental protection.</a:t>
            </a:r>
          </a:p>
          <a:p>
            <a:pPr marL="0" indent="0">
              <a:buNone/>
            </a:pPr>
            <a:r>
              <a:rPr lang="en-US" dirty="0"/>
              <a:t>Despite challenges such as regulatory requirements and research costs, the company continues to influence the future of biotechnology through scientific innovation and strategic partnerships.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8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CA2FB7-597C-A56E-FE1F-0BE387277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723" y="624254"/>
            <a:ext cx="8414618" cy="25585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69ACC3-8B46-95EC-BF0B-8F12A9322901}"/>
              </a:ext>
            </a:extLst>
          </p:cNvPr>
          <p:cNvSpPr txBox="1"/>
          <p:nvPr/>
        </p:nvSpPr>
        <p:spPr>
          <a:xfrm>
            <a:off x="3514723" y="3429000"/>
            <a:ext cx="61150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CF2AF-C5D0-C67B-7433-12EABE51C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76" y="4688737"/>
            <a:ext cx="2989386" cy="1863753"/>
          </a:xfrm>
          <a:prstGeom prst="rect">
            <a:avLst/>
          </a:prstGeom>
          <a:effectLst>
            <a:outerShdw blurRad="266700" dist="50800" dir="10200000" algn="ctr" rotWithShape="0">
              <a:srgbClr val="000000">
                <a:alpha val="0"/>
              </a:srgbClr>
            </a:outerShdw>
            <a:reflection blurRad="1117600" endPos="0" dir="5400000" sy="-100000" algn="bl" rotWithShape="0"/>
            <a:softEdge rad="393700"/>
          </a:effectLst>
        </p:spPr>
      </p:pic>
    </p:spTree>
    <p:extLst>
      <p:ext uri="{BB962C8B-B14F-4D97-AF65-F5344CB8AC3E}">
        <p14:creationId xmlns:p14="http://schemas.microsoft.com/office/powerpoint/2010/main" val="1807774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</TotalTime>
  <Words>435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Wingdings</vt:lpstr>
      <vt:lpstr>Organic</vt:lpstr>
      <vt:lpstr>           CASE STUDY ANALYSIS</vt:lpstr>
      <vt:lpstr> COMPANY BACKGROUND </vt:lpstr>
      <vt:lpstr>BIOTECHNOLOGY INNOVATION </vt:lpstr>
      <vt:lpstr>APPLICATIONS</vt:lpstr>
      <vt:lpstr>APPLICATIONS CONT’</vt:lpstr>
      <vt:lpstr>BIOTECHNOLOGY USED</vt:lpstr>
      <vt:lpstr>BENEFITS </vt:lpstr>
      <vt:lpstr>CHALLENGS </vt:lpstr>
      <vt:lpstr>MARKET IMPACT</vt:lpstr>
      <vt:lpstr>RELEVANT TO MY COUNTRY (RWANDA)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hyacinthe mukeshimana</dc:creator>
  <cp:lastModifiedBy>hyacinthe mukeshimana</cp:lastModifiedBy>
  <cp:revision>5</cp:revision>
  <dcterms:created xsi:type="dcterms:W3CDTF">2026-06-30T20:42:20Z</dcterms:created>
  <dcterms:modified xsi:type="dcterms:W3CDTF">2026-06-30T21:48:53Z</dcterms:modified>
</cp:coreProperties>
</file>